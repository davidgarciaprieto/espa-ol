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B86">
              <a:alpha val="30000"/>
            </a:srgbClr>
          </a:solidFill>
          <a:ln w="12700">
            <a:solidFill>
              <a:srgbClr val="FF5B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4A7BFF">
              <a:alpha val="25000"/>
            </a:srgbClr>
          </a:solidFill>
          <a:ln w="12700">
            <a:solidFill>
              <a:srgbClr val="4A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0" b="1" spc="-4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M€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globales por fraude con tarjeta en un solo año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371600" cy="0"/>
          </a:xfrm>
          <a:prstGeom prst="line">
            <a:avLst/>
          </a:prstGeom>
          <a:noFill/>
          <a:ln w="50800">
            <a:solidFill>
              <a:srgbClr val="FF5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 transaccionales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con modelos clásicos de machine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</a:t>
            </a:r>
            <a:pPr algn="l" indent="0" marL="0">
              <a:buNone/>
            </a:pPr>
            <a:r>
              <a:rPr lang="en-US" sz="11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Estudiante de Ciencia de Datos e IA · UPM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fraudulenta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spc="-100" kern="0" dirty="0">
                <a:solidFill>
                  <a:srgbClr val="FF5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tres costes (no uno).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2926080" cy="3108960"/>
          </a:xfrm>
          <a:prstGeom prst="rect">
            <a:avLst/>
          </a:prstGeom>
          <a:solidFill>
            <a:srgbClr val="FFD4E0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017520"/>
            <a:ext cx="2926080" cy="228600"/>
          </a:xfrm>
          <a:prstGeom prst="rect">
            <a:avLst/>
          </a:prstGeom>
          <a:solidFill>
            <a:srgbClr val="FF5B86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💸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directo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importe que el banco pierde y debe devolver al cliente. Es el más visible, pero no el mayor.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3017520"/>
            <a:ext cx="2926080" cy="3108960"/>
          </a:xfrm>
          <a:prstGeom prst="rect">
            <a:avLst/>
          </a:prstGeom>
          <a:solidFill>
            <a:srgbClr val="FFF1B8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3017520"/>
            <a:ext cx="2926080" cy="228600"/>
          </a:xfrm>
          <a:prstGeom prst="rect">
            <a:avLst/>
          </a:prstGeom>
          <a:solidFill>
            <a:srgbClr val="FF8534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📉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84632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reputacional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4800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pierde confianza. Difícil de medir, pero condiciona la fidelidad y la recomendación.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0" y="3017520"/>
            <a:ext cx="2926080" cy="3108960"/>
          </a:xfrm>
          <a:prstGeom prst="rect">
            <a:avLst/>
          </a:prstGeom>
          <a:solidFill>
            <a:srgbClr val="C8D8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3017520"/>
            <a:ext cx="2926080" cy="228600"/>
          </a:xfrm>
          <a:prstGeom prst="rect">
            <a:avLst/>
          </a:prstGeom>
          <a:solidFill>
            <a:srgbClr val="4A7B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🔍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82396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operativo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3960" y="4800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Investigación, contacto al cliente, reemplazo de tarjeta, expedientes internos. Escala con el volumen.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antes </a:t>
            </a:r>
            <a:pPr algn="ctr" indent="0" marL="0">
              <a:buNone/>
            </a:pPr>
            <a:r>
              <a:rPr lang="en-US" sz="13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ahorrar en los tres a la vez.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 · UPM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anomalía?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rompe el patrón habitual del cliente.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7432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 w="19050">
            <a:solidFill>
              <a:srgbClr val="1A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HABITUAL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huella del cliente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Compras pequeñas en el barrio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Misma gasolinera cada semana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🥐  Pan los sábados por la mañana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349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 Una compra grande de viaje al año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B86"/>
                </a:solidFill>
              </a:rPr>
              <a:t>→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5303520" cy="3657600"/>
          </a:xfrm>
          <a:prstGeom prst="rect">
            <a:avLst/>
          </a:prstGeom>
          <a:solidFill>
            <a:srgbClr val="FFD4E0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743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F5B86"/>
          </a:solidFill>
          <a:ln w="19050">
            <a:solidFill>
              <a:srgbClr val="1A14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Martes, 3:00 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4 000 €  ·  País nunca visitado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2976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necesariamente fraude. Pero rompe la huella del cliente — y «raro» es, en estadística, un dato accionable.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 · UPM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familias de modelos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combinamos según el coste y la velocidad que necesitemos.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926080" cy="3383280"/>
          </a:xfrm>
          <a:prstGeom prst="rect">
            <a:avLst/>
          </a:prstGeom>
          <a:solidFill>
            <a:srgbClr val="C8D8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80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spc="-300" kern="0" dirty="0">
                <a:solidFill>
                  <a:srgbClr val="4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108960" y="3063240"/>
            <a:ext cx="274320" cy="274320"/>
          </a:xfrm>
          <a:prstGeom prst="ellipse">
            <a:avLst/>
          </a:prstGeom>
          <a:solidFill>
            <a:srgbClr val="4A7BFF"/>
          </a:solidFill>
          <a:ln w="19050">
            <a:solidFill>
              <a:srgbClr val="1A1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operaciones parecidas. Lo que no encaja en ningún grupo, sospechoso.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· DBSCAN · jerárquicos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743200"/>
            <a:ext cx="2926080" cy="3383280"/>
          </a:xfrm>
          <a:prstGeom prst="rect">
            <a:avLst/>
          </a:prstGeom>
          <a:solidFill>
            <a:srgbClr val="FFD4E0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880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spc="-300" kern="0" dirty="0">
                <a:solidFill>
                  <a:srgbClr val="FF5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7086600" y="3063240"/>
            <a:ext cx="274320" cy="274320"/>
          </a:xfrm>
          <a:prstGeom prst="ellipse">
            <a:avLst/>
          </a:prstGeom>
          <a:solidFill>
            <a:srgbClr val="FF5B86"/>
          </a:solidFill>
          <a:ln w="19050">
            <a:solidFill>
              <a:srgbClr val="1A14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4526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con casos pasados conocidos. El modelo aprende a distinguir fraude de legítimo.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5623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log-reg · random forest · boosting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2743200"/>
            <a:ext cx="2926080" cy="3383280"/>
          </a:xfrm>
          <a:prstGeom prst="rect">
            <a:avLst/>
          </a:prstGeom>
          <a:solidFill>
            <a:srgbClr val="B8E8D0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880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spc="-3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11064240" y="3063240"/>
            <a:ext cx="274320" cy="274320"/>
          </a:xfrm>
          <a:prstGeom prst="ellipse">
            <a:avLst/>
          </a:prstGeom>
          <a:solidFill>
            <a:srgbClr val="2BB673"/>
          </a:solidFill>
          <a:ln w="19050">
            <a:solidFill>
              <a:srgbClr val="1A1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clásica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23960" y="4526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 probable es una operación dada la distribución habitual del cliente.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23960" y="5623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B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IQR · test de hipótesis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8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En la práctica, los combinamos.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 · UPM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proponemos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en 18 semanas. Empezar pequeño, validar, escalar.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4114800"/>
            <a:ext cx="9601200" cy="0"/>
          </a:xfrm>
          <a:prstGeom prst="line">
            <a:avLst/>
          </a:prstGeom>
          <a:noFill/>
          <a:ln w="38100">
            <a:solidFill>
              <a:srgbClr val="1A142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7280" y="3383280"/>
            <a:ext cx="1463040" cy="1463040"/>
          </a:xfrm>
          <a:prstGeom prst="ellipse">
            <a:avLst/>
          </a:prstGeom>
          <a:solidFill>
            <a:srgbClr val="FF5B86"/>
          </a:solidFill>
          <a:ln w="38100">
            <a:solidFill>
              <a:srgbClr val="1A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120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1 · semanas 1-8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5852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híbrido: cluster + clasificador. Primero marca, el segundo puntúa.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383280"/>
            <a:ext cx="1463040" cy="1463040"/>
          </a:xfrm>
          <a:prstGeom prst="ellipse">
            <a:avLst/>
          </a:prstGeom>
          <a:solidFill>
            <a:srgbClr val="FFD23F"/>
          </a:solidFill>
          <a:ln w="38100">
            <a:solidFill>
              <a:srgbClr val="1A14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4206240" y="502920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5120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2 · semanas 9-16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43400" y="54132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sombra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43400" y="5852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 subconjunto del flujo real, sin afectar a ninguna decisión.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3383280"/>
            <a:ext cx="1463040" cy="1463040"/>
          </a:xfrm>
          <a:prstGeom prst="ellipse">
            <a:avLst/>
          </a:prstGeom>
          <a:solidFill>
            <a:srgbClr val="2BB673"/>
          </a:solidFill>
          <a:ln w="38100">
            <a:solidFill>
              <a:srgbClr val="1A14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7955280" y="502920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5120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B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3 · semanas 17-18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92440" y="54132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gradual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92440" y="5852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claras: precisión, recall, falsos positivos. Decisión informada.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 · UPM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Realista, no ambicioso.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 y la infraestructura que ya tenemos.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3774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743200"/>
            <a:ext cx="164592" cy="3383280"/>
          </a:xfrm>
          <a:prstGeom prst="rect">
            <a:avLst/>
          </a:prstGeom>
          <a:solidFill>
            <a:srgbClr val="FF5B86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FF5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completo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2743200"/>
            <a:ext cx="23774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743200"/>
            <a:ext cx="164592" cy="3383280"/>
          </a:xfrm>
          <a:prstGeom prst="rect">
            <a:avLst/>
          </a:prstGeom>
          <a:solidFill>
            <a:srgbClr val="4A7B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4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38862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extra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nueva infraestructura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743200"/>
            <a:ext cx="23774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743200"/>
            <a:ext cx="164592" cy="3383280"/>
          </a:xfrm>
          <a:prstGeom prst="rect">
            <a:avLst/>
          </a:prstGeom>
          <a:solidFill>
            <a:srgbClr val="2BB673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68580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datos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actual, sin contratación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55480" y="2743200"/>
            <a:ext cx="23774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2743200"/>
            <a:ext cx="164592" cy="3383280"/>
          </a:xfrm>
          <a:prstGeom prst="rect">
            <a:avLst/>
          </a:prstGeom>
          <a:solidFill>
            <a:srgbClr val="FF8534"/>
          </a:solidFill>
          <a:ln w="25400">
            <a:solidFill>
              <a:srgbClr val="1A14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FF8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9829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980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· recall · FP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nuevo es la disciplina de modelado y la documentación rigurosa.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 García Prieto · UPM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828800"/>
            <a:ext cx="6400800" cy="6400800"/>
          </a:xfrm>
          <a:prstGeom prst="ellipse">
            <a:avLst/>
          </a:prstGeom>
          <a:solidFill>
            <a:srgbClr val="2BB673">
              <a:alpha val="25000"/>
            </a:srgbClr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FF8534">
              <a:alpha val="25000"/>
            </a:srgbClr>
          </a:solidFill>
          <a:ln w="12700">
            <a:solidFill>
              <a:srgbClr val="FF8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finales.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FF5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clásicos no están desfasados.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camino más razonable cuando hay que decidir rápido y explicar la decisión.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tecnología.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problema de negocio que se resuelve con tecnología. La diferencia importa.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pequeño vale más que esperar.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piloto en sombra mañana enseña más que un sistema perfecto dentro de dos años.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371600" cy="0"/>
          </a:xfrm>
          <a:prstGeom prst="line">
            <a:avLst/>
          </a:prstGeom>
          <a:noFill/>
          <a:ln w="50800">
            <a:solidFill>
              <a:srgbClr val="FF5B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spc="-5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¿Arrancamos el piloto este trimestre?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Gracias.   ·   David García Prieto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anomalías en datos transaccionales</dc:title>
  <dc:subject>PptxGenJS Presentation</dc:subject>
  <dc:creator>David García Prieto</dc:creator>
  <cp:lastModifiedBy>David García Prieto</cp:lastModifiedBy>
  <cp:revision>1</cp:revision>
  <dcterms:created xsi:type="dcterms:W3CDTF">2026-05-17T16:03:01Z</dcterms:created>
  <dcterms:modified xsi:type="dcterms:W3CDTF">2026-05-17T16:03:01Z</dcterms:modified>
</cp:coreProperties>
</file>